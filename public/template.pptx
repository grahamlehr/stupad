
<file path=[Content_Types].xml><?xml version="1.0" encoding="utf-8"?>
<Types xmlns="http://schemas.openxmlformats.org/package/2006/content-types">
  <Default Extension="rels" ContentType="application/vnd.openxmlformats-package.relationships+xml"/>
  <Default Extension="png"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2" r:id="rId4"/>
    <p:sldId id="258" r:id="rId5"/>
    <p:sldId id="259" r:id="rId6"/>
    <p:sldId id="260" r:id="rId7"/>
    <p:sldId id="263" r:id="rId8"/>
    <p:sldId id="261"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2E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23"/>
    <p:restoredTop sz="94610"/>
  </p:normalViewPr>
  <p:slideViewPr>
    <p:cSldViewPr snapToGrid="0" snapToObjects="1">
      <p:cViewPr varScale="1">
        <p:scale>
          <a:sx n="123" d="100"/>
          <a:sy n="123" d="100"/>
        </p:scale>
        <p:origin x="6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4227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D8745-AA8C-9D38-DCD7-006093DA5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9599B-BFDD-B50F-3CA1-9793C033E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B8906-D50D-239F-7A78-B2036F025F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6FA1BD-0F90-2EB0-D2B4-B7B34D58761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40153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9953B-2F21-741B-8FF2-2ADA85F09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F03EF-24FA-CD41-1104-50EA3A76C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F20C4-F069-1839-867D-E7DD4DAF68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D27528-7CA3-B0AD-503C-7443F0E08F9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98299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6.xml"/><Relationship Id="rId5" Type="http://schemas.openxmlformats.org/officeDocument/2006/relationships/slide" Target="slide5.xml"/><Relationship Id="rId4" Type="http://schemas.openxmlformats.org/officeDocument/2006/relationships/slide" Target="slide4.xml"/><Relationship Id="rIdEmotaLogo" Type="http://schemas.openxmlformats.org/officeDocument/2006/relationships/image" Target="../media/emota-logo-white.png"/></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slide" Target="slide7.xml"/><Relationship Id="rIdEmotaLogo" Type="http://schemas.openxmlformats.org/officeDocument/2006/relationships/image" Target="../media/emota-logo-blackberry.png"/></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slide" Target="slide7.xml"/><Relationship Id="rIdEmotaLogo" Type="http://schemas.openxmlformats.org/officeDocument/2006/relationships/image" Target="../media/emota-logo-blackberry.png"/></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slide" Target="slide7.xml"/><Relationship Id="rIdEmotaLogo" Type="http://schemas.openxmlformats.org/officeDocument/2006/relationships/image" Target="../media/emota-logo-blackberry.png"/></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slide" Target="slide7.xml"/><Relationship Id="rIdEmotaLogo" Type="http://schemas.openxmlformats.org/officeDocument/2006/relationships/image" Target="../media/emota-logo-blackberry.png"/></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slide" Target="slide7.xml"/><Relationship Id="rIdEmotaLogo" Type="http://schemas.openxmlformats.org/officeDocument/2006/relationships/image" Target="../media/emota-logo-blackberry.png"/></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1.xml"/><Relationship Id="rIdEmotaLogo" Type="http://schemas.openxmlformats.org/officeDocument/2006/relationships/image" Target="../media/emota-logo-blackberry.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EmotaLogo" Type="http://schemas.openxmlformats.org/officeDocument/2006/relationships/image" Target="../media/emota-logo-blackberry.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34C"/>
        </a:solidFill>
        <a:effectLst/>
      </p:bgPr>
    </p:bg>
    <p:spTree>
      <p:nvGrpSpPr>
        <p:cNvPr id="1" name=""/>
        <p:cNvGrpSpPr/>
        <p:nvPr/>
      </p:nvGrpSpPr>
      <p:grpSpPr>
        <a:xfrm>
          <a:off x="0" y="0"/>
          <a:ext cx="0" cy="0"/>
          <a:chOff x="0" y="0"/>
          <a:chExt cx="0" cy="0"/>
        </a:xfrm>
      </p:grpSpPr>
      <p:sp>
        <p:nvSpPr>
          <p:cNvPr id="2" name="Text 0"/>
          <p:cNvSpPr/>
          <p:nvPr/>
        </p:nvSpPr>
        <p:spPr>
          <a:xfrm>
            <a:off x="548640" y="457200"/>
            <a:ext cx="8686800" cy="914400"/>
          </a:xfrm>
          <a:prstGeom prst="rect">
            <a:avLst/>
          </a:prstGeom>
          <a:noFill/>
          <a:ln/>
        </p:spPr>
        <p:txBody>
          <a:bodyPr wrap="square" rtlCol="0" anchor="ctr"/>
          <a:lstStyle/>
          <a:p>
            <a:pPr marL="0" indent="0" algn="l">
              <a:buNone/>
            </a:pPr>
            <a:r>
              <a:rPr lang="en-US" sz="3200" b="1" dirty="0">
                <a:solidFill>
                  <a:srgbClr val="FBFAFF"/>
                </a:solidFill>
                <a:latin typeface="Montserrat" pitchFamily="34" charset="0"/>
                <a:ea typeface="Montserrat" pitchFamily="34" charset="-122"/>
                <a:cs typeface="Montserrat" pitchFamily="34" charset="-120"/>
              </a:rPr>
              <a:t>GGPad Kiosk Template</a:t>
            </a:r>
            <a:endParaRPr lang="en-US" sz="3200" dirty="0"/>
          </a:p>
        </p:txBody>
      </p:sp>
      <p:sp>
        <p:nvSpPr>
          <p:cNvPr id="3" name="Text 1"/>
          <p:cNvSpPr/>
          <p:nvPr/>
        </p:nvSpPr>
        <p:spPr>
          <a:xfrm>
            <a:off x="548640" y="1234440"/>
            <a:ext cx="8686800" cy="457200"/>
          </a:xfrm>
          <a:prstGeom prst="rect">
            <a:avLst/>
          </a:prstGeom>
          <a:noFill/>
          <a:ln/>
        </p:spPr>
        <p:txBody>
          <a:bodyPr wrap="square" rtlCol="0" anchor="ctr"/>
          <a:lstStyle/>
          <a:p>
            <a:pPr marL="0" indent="0" algn="l">
              <a:buNone/>
            </a:pPr>
            <a:r>
              <a:rPr lang="en-US" sz="1600" dirty="0">
                <a:solidFill>
                  <a:srgbClr val="C5C5D6"/>
                </a:solidFill>
                <a:latin typeface="Montserrat" pitchFamily="34" charset="0"/>
                <a:ea typeface="Montserrat" pitchFamily="34" charset="-122"/>
                <a:cs typeface="Montserrat" pitchFamily="34" charset="-120"/>
              </a:rPr>
              <a:t>Tap a topic to explore</a:t>
            </a:r>
            <a:endParaRPr lang="en-US" sz="1600" dirty="0"/>
          </a:p>
        </p:txBody>
      </p:sp>
      <p:sp>
        <p:nvSpPr>
          <p:cNvPr id="4" name="BTN_Link1">
            <a:hlinkClick r:id="rId3" action="ppaction://hlinksldjump"/>
          </p:cNvPr>
          <p:cNvSpPr/>
          <p:nvPr/>
        </p:nvSpPr>
        <p:spPr>
          <a:xfrm>
            <a:off x="678028" y="2377440"/>
            <a:ext cx="2468880" cy="2011680"/>
          </a:xfrm>
          <a:prstGeom prst="roundRect">
            <a:avLst>
              <a:gd name="adj" fmla="val 5455"/>
            </a:avLst>
          </a:prstGeom>
          <a:solidFill>
            <a:srgbClr val="00CA9F"/>
          </a:solidFill>
          <a:ln w="12700">
            <a:solidFill>
              <a:srgbClr val="E2E2F2"/>
            </a:solidFill>
          </a:ln>
        </p:spPr>
        <p:txBody>
          <a:bodyPr wrap="square" rtlCol="0" anchor="ctr"/>
          <a:lstStyle/>
          <a:p>
            <a:pPr marL="0" indent="0" algn="ctr">
              <a:buNone/>
            </a:pPr>
            <a:r>
              <a:rPr lang="en-US" sz="2000" b="1" dirty="0">
                <a:solidFill>
                  <a:srgbClr val="042B29"/>
                </a:solidFill>
                <a:latin typeface="Montserrat" pitchFamily="34" charset="0"/>
                <a:ea typeface="Montserrat" pitchFamily="34" charset="-122"/>
                <a:cs typeface="Montserrat" pitchFamily="34" charset="-120"/>
              </a:rPr>
              <a:t>Template</a:t>
            </a:r>
            <a:br>
              <a:rPr lang="en-US" sz="2000" b="1" dirty="0">
                <a:solidFill>
                  <a:srgbClr val="042B29"/>
                </a:solidFill>
                <a:latin typeface="Montserrat" pitchFamily="34" charset="0"/>
                <a:ea typeface="Montserrat" pitchFamily="34" charset="-122"/>
                <a:cs typeface="Montserrat" pitchFamily="34" charset="-120"/>
              </a:rPr>
            </a:br>
            <a:r>
              <a:rPr lang="en-US" sz="2000" b="1" dirty="0">
                <a:solidFill>
                  <a:srgbClr val="042B29"/>
                </a:solidFill>
                <a:latin typeface="Montserrat" pitchFamily="34" charset="0"/>
                <a:ea typeface="Montserrat" pitchFamily="34" charset="-122"/>
                <a:cs typeface="Montserrat" pitchFamily="34" charset="-120"/>
              </a:rPr>
              <a:t>Guide</a:t>
            </a:r>
            <a:endParaRPr lang="en-US" sz="2000" dirty="0"/>
          </a:p>
        </p:txBody>
      </p:sp>
      <p:sp>
        <p:nvSpPr>
          <p:cNvPr id="5" name="BTN_Link2">
            <a:hlinkClick r:id="rId4" action="ppaction://hlinksldjump"/>
          </p:cNvPr>
          <p:cNvSpPr/>
          <p:nvPr/>
        </p:nvSpPr>
        <p:spPr>
          <a:xfrm>
            <a:off x="3466948" y="2377440"/>
            <a:ext cx="2468880" cy="2011680"/>
          </a:xfrm>
          <a:prstGeom prst="roundRect">
            <a:avLst>
              <a:gd name="adj" fmla="val 5455"/>
            </a:avLst>
          </a:prstGeom>
          <a:solidFill>
            <a:srgbClr val="7949F0"/>
          </a:solidFill>
          <a:ln w="12700">
            <a:solidFill>
              <a:srgbClr val="E2E2F2"/>
            </a:solidFill>
          </a:ln>
        </p:spPr>
        <p:txBody>
          <a:bodyPr wrap="square" rtlCol="0" anchor="ctr"/>
          <a:lstStyle/>
          <a:p>
            <a:pPr marL="0" indent="0" algn="ctr">
              <a:buNone/>
            </a:pPr>
            <a:r>
              <a:rPr lang="en-US" sz="2000" b="1" dirty="0">
                <a:solidFill>
                  <a:srgbClr val="FBFAFF"/>
                </a:solidFill>
                <a:latin typeface="Montserrat" pitchFamily="34" charset="0"/>
                <a:ea typeface="Montserrat" pitchFamily="34" charset="-122"/>
                <a:cs typeface="Montserrat" pitchFamily="34" charset="-120"/>
              </a:rPr>
              <a:t>Innovation</a:t>
            </a:r>
            <a:endParaRPr lang="en-US" sz="2000" dirty="0"/>
          </a:p>
        </p:txBody>
      </p:sp>
      <p:sp>
        <p:nvSpPr>
          <p:cNvPr id="6" name="BTN_Link3">
            <a:hlinkClick r:id="rId5" action="ppaction://hlinksldjump"/>
          </p:cNvPr>
          <p:cNvSpPr/>
          <p:nvPr/>
        </p:nvSpPr>
        <p:spPr>
          <a:xfrm>
            <a:off x="6255868" y="2377440"/>
            <a:ext cx="2468880" cy="2011680"/>
          </a:xfrm>
          <a:prstGeom prst="roundRect">
            <a:avLst>
              <a:gd name="adj" fmla="val 5455"/>
            </a:avLst>
          </a:prstGeom>
          <a:solidFill>
            <a:srgbClr val="451284"/>
          </a:solidFill>
          <a:ln w="12700">
            <a:solidFill>
              <a:srgbClr val="E2E2F2"/>
            </a:solidFill>
          </a:ln>
        </p:spPr>
        <p:txBody>
          <a:bodyPr wrap="square" rtlCol="0" anchor="ctr"/>
          <a:lstStyle/>
          <a:p>
            <a:pPr marL="0" indent="0" algn="ctr">
              <a:buNone/>
            </a:pPr>
            <a:r>
              <a:rPr lang="en-US" sz="2000" b="1" dirty="0">
                <a:solidFill>
                  <a:srgbClr val="FBFAFF"/>
                </a:solidFill>
                <a:latin typeface="Montserrat" pitchFamily="34" charset="0"/>
                <a:ea typeface="Montserrat" pitchFamily="34" charset="-122"/>
                <a:cs typeface="Montserrat" pitchFamily="34" charset="-120"/>
              </a:rPr>
              <a:t>People</a:t>
            </a:r>
            <a:endParaRPr lang="en-US" sz="2000" dirty="0"/>
          </a:p>
        </p:txBody>
      </p:sp>
      <p:sp>
        <p:nvSpPr>
          <p:cNvPr id="7" name="BTN_Link4">
            <a:hlinkClick r:id="rId6" action="ppaction://hlinksldjump"/>
          </p:cNvPr>
          <p:cNvSpPr/>
          <p:nvPr/>
        </p:nvSpPr>
        <p:spPr>
          <a:xfrm>
            <a:off x="9044788" y="2377440"/>
            <a:ext cx="2468880" cy="2011680"/>
          </a:xfrm>
          <a:prstGeom prst="roundRect">
            <a:avLst>
              <a:gd name="adj" fmla="val 5455"/>
            </a:avLst>
          </a:prstGeom>
          <a:solidFill>
            <a:srgbClr val="7EF5BD"/>
          </a:solidFill>
          <a:ln w="12700">
            <a:solidFill>
              <a:srgbClr val="E2E2F2"/>
            </a:solidFill>
          </a:ln>
        </p:spPr>
        <p:txBody>
          <a:bodyPr wrap="square" rtlCol="0" anchor="ctr"/>
          <a:lstStyle/>
          <a:p>
            <a:pPr marL="0" indent="0" algn="ctr">
              <a:buNone/>
            </a:pPr>
            <a:r>
              <a:rPr lang="en-US" sz="2000" b="1" dirty="0">
                <a:solidFill>
                  <a:srgbClr val="042B29"/>
                </a:solidFill>
                <a:latin typeface="Montserrat" pitchFamily="34" charset="0"/>
                <a:ea typeface="Montserrat" pitchFamily="34" charset="-122"/>
                <a:cs typeface="Montserrat" pitchFamily="34" charset="-120"/>
              </a:rPr>
              <a:t>Contact</a:t>
            </a:r>
            <a:endParaRPr lang="en-US" sz="2000" dirty="0"/>
          </a:p>
        </p:txBody>
      </p:sp>
      <p:sp>
        <p:nvSpPr>
          <p:cNvPr id="8" name="Text 6"/>
          <p:cNvSpPr/>
          <p:nvPr/>
        </p:nvSpPr>
        <p:spPr>
          <a:xfrm>
            <a:off x="548640" y="6446520"/>
            <a:ext cx="5486400" cy="320040"/>
          </a:xfrm>
          <a:prstGeom prst="rect">
            <a:avLst/>
          </a:prstGeom>
          <a:noFill/>
          <a:ln/>
        </p:spPr>
        <p:txBody>
          <a:bodyPr wrap="square" rtlCol="0" anchor="ctr"/>
          <a:lstStyle/>
          <a:p>
            <a:pPr marL="0" indent="0">
              <a:buNone/>
            </a:pPr>
            <a:r>
              <a:rPr lang="en-US" sz="1000" dirty="0">
                <a:solidFill>
                  <a:srgbClr val="C5C5D6"/>
                </a:solidFill>
                <a:latin typeface="Montserrat" pitchFamily="34" charset="0"/>
                <a:ea typeface="Montserrat" pitchFamily="34" charset="-122"/>
                <a:cs typeface="Montserrat" pitchFamily="34" charset="-120"/>
              </a:rPr>
              <a:t>GGPad · offline kiosk</a:t>
            </a:r>
            <a:endParaRPr lang="en-US" sz="1000" dirty="0"/>
          </a:p>
        </p:txBody>
      </p:sp>
      <p:sp>
        <p:nvSpPr>
          <p:cNvPr id="9" name="BTN_Terms">
            <a:hlinkClick r:id="rId7" action="ppaction://hlinksldjump"/>
            <a:extLst>
              <a:ext uri="{FF2B5EF4-FFF2-40B4-BE49-F238E27FC236}">
                <a16:creationId xmlns:a16="http://schemas.microsoft.com/office/drawing/2014/main" id="{BE410B98-D260-BA31-DC49-4896F10180CF}"/>
              </a:ext>
            </a:extLst>
          </p:cNvPr>
          <p:cNvSpPr/>
          <p:nvPr/>
        </p:nvSpPr>
        <p:spPr>
          <a:xfrm>
            <a:off x="3466948" y="5943600"/>
            <a:ext cx="1645920" cy="548640"/>
          </a:xfrm>
          <a:prstGeom prst="roundRect">
            <a:avLst>
              <a:gd name="adj" fmla="val 25000"/>
            </a:avLst>
          </a:prstGeom>
          <a:solidFill>
            <a:srgbClr val="3A1164"/>
          </a:solidFill>
          <a:ln>
            <a:solidFill>
              <a:schemeClr val="bg2"/>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T&amp;Cs</a:t>
            </a:r>
            <a:endParaRPr lang="en-US" sz="1400" dirty="0"/>
          </a:p>
        </p:txBody>
      </p:sp>
      <p:pic>
        <p:nvPicPr>
          <p:cNvPr id="10" name="Emota logo" descr="Emota, an Inizio Engage company"/>
          <p:cNvPicPr>
            <a:picLocks noChangeAspect="1"/>
          </p:cNvPicPr>
          <p:nvPr/>
        </p:nvPicPr>
        <p:blipFill>
          <a:blip r:embed="rIdEmotaLogo"/>
          <a:stretch>
            <a:fillRect/>
          </a:stretch>
        </p:blipFill>
        <p:spPr>
          <a:xfrm>
            <a:off x="9631375" y="566928"/>
            <a:ext cx="2011680" cy="7174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B"/>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914400"/>
          </a:xfrm>
          <a:prstGeom prst="rect">
            <a:avLst/>
          </a:prstGeom>
          <a:noFill/>
          <a:ln/>
        </p:spPr>
        <p:txBody>
          <a:bodyPr wrap="square" rtlCol="0" anchor="ctr"/>
          <a:lstStyle/>
          <a:p>
            <a:pPr marL="0" indent="0">
              <a:buNone/>
            </a:pPr>
            <a:r>
              <a:rPr lang="en-US" sz="3000" b="1" dirty="0">
                <a:solidFill>
                  <a:srgbClr val="2A034C"/>
                </a:solidFill>
                <a:latin typeface="Montserrat" pitchFamily="34" charset="0"/>
                <a:ea typeface="Montserrat" pitchFamily="34" charset="-122"/>
                <a:cs typeface="Montserrat" pitchFamily="34" charset="-120"/>
              </a:rPr>
              <a:t>Guide – Page 1</a:t>
            </a:r>
            <a:endParaRPr lang="en-US" sz="3000" dirty="0"/>
          </a:p>
        </p:txBody>
      </p:sp>
      <p:sp>
        <p:nvSpPr>
          <p:cNvPr id="3" name="Text 1"/>
          <p:cNvSpPr/>
          <p:nvPr/>
        </p:nvSpPr>
        <p:spPr>
          <a:xfrm>
            <a:off x="548640" y="1554480"/>
            <a:ext cx="8686800" cy="3601982"/>
          </a:xfrm>
          <a:prstGeom prst="rect">
            <a:avLst/>
          </a:prstGeom>
          <a:noFill/>
          <a:ln/>
        </p:spPr>
        <p:txBody>
          <a:bodyPr wrap="square" rtlCol="0" anchor="t"/>
          <a:lstStyle/>
          <a:p>
            <a:pPr marL="0" indent="0">
              <a:buNone/>
            </a:pPr>
            <a:r>
              <a:rPr lang="en-US" sz="1600" dirty="0" err="1">
                <a:solidFill>
                  <a:srgbClr val="2A034C"/>
                </a:solidFill>
                <a:latin typeface="Montserrat" pitchFamily="34" charset="0"/>
                <a:ea typeface="Montserrat" pitchFamily="34" charset="-122"/>
                <a:cs typeface="Montserrat" pitchFamily="34" charset="-120"/>
              </a:rPr>
              <a:t>GGPad</a:t>
            </a:r>
            <a:r>
              <a:rPr lang="en-US" sz="1600" dirty="0">
                <a:solidFill>
                  <a:srgbClr val="2A034C"/>
                </a:solidFill>
                <a:latin typeface="Montserrat" pitchFamily="34" charset="0"/>
                <a:ea typeface="Montserrat" pitchFamily="34" charset="-122"/>
                <a:cs typeface="Montserrat" pitchFamily="34" charset="-120"/>
              </a:rPr>
              <a:t> Kiosk uses PowerPoint links to create the navigation structure. Right click the object you want to be a button and edit or add a link and link to the slide you want to.</a:t>
            </a:r>
          </a:p>
          <a:p>
            <a:pPr marL="0" indent="0">
              <a:buNone/>
            </a:pPr>
            <a:endParaRPr lang="en-US" sz="1600" dirty="0">
              <a:solidFill>
                <a:srgbClr val="2A034C"/>
              </a:solidFill>
              <a:latin typeface="Montserrat" pitchFamily="34" charset="0"/>
              <a:ea typeface="Montserrat" pitchFamily="34" charset="-122"/>
              <a:cs typeface="Montserrat" pitchFamily="34" charset="-120"/>
            </a:endParaRPr>
          </a:p>
          <a:p>
            <a:pPr marL="0" indent="0">
              <a:buNone/>
            </a:pPr>
            <a:r>
              <a:rPr lang="en-US" sz="1600" dirty="0"/>
              <a:t>If you have a slide that can be accessed from anywhere, such as terms and conditions or a disclaimer, you can add a “back” button that you should add this by choosing insert &gt; action &gt; action on click &gt; link to: Last </a:t>
            </a:r>
            <a:r>
              <a:rPr lang="en-US" sz="1600"/>
              <a:t>Slide Viewed.</a:t>
            </a:r>
            <a:endParaRPr lang="en-US" sz="1600" dirty="0"/>
          </a:p>
          <a:p>
            <a:pPr marL="0" indent="0">
              <a:buNone/>
            </a:pPr>
            <a:endParaRPr lang="en-US" sz="1600" dirty="0"/>
          </a:p>
          <a:p>
            <a:pPr marL="0" indent="0">
              <a:buNone/>
            </a:pPr>
            <a:r>
              <a:rPr lang="en-US" sz="1600" dirty="0"/>
              <a:t>When you import the slides into </a:t>
            </a:r>
            <a:r>
              <a:rPr lang="en-US" sz="1600" dirty="0" err="1"/>
              <a:t>GGPad</a:t>
            </a:r>
            <a:r>
              <a:rPr lang="en-US" sz="1600" dirty="0"/>
              <a:t> kiosk you can give the links on slide 1 more useful names, in this template they will appear as Link 1, Link 2 </a:t>
            </a:r>
            <a:r>
              <a:rPr lang="en-US" sz="1600" dirty="0" err="1"/>
              <a:t>etc</a:t>
            </a:r>
            <a:r>
              <a:rPr lang="en-US" sz="1600" dirty="0"/>
              <a:t>, so you could add more descriptive names for the report. </a:t>
            </a:r>
          </a:p>
          <a:p>
            <a:pPr marL="0" indent="0">
              <a:buNone/>
            </a:pPr>
            <a:endParaRPr lang="en-US" sz="1600" dirty="0"/>
          </a:p>
          <a:p>
            <a:pPr marL="0" indent="0">
              <a:buNone/>
            </a:pPr>
            <a:r>
              <a:rPr lang="en-US" sz="1600" dirty="0"/>
              <a:t>If you add or remove slides you are strongly advised to test every link and flow on an iPad if you add or remove slides.</a:t>
            </a:r>
          </a:p>
        </p:txBody>
      </p:sp>
      <p:sp>
        <p:nvSpPr>
          <p:cNvPr id="4" name="BTN_Home">
            <a:hlinkClick r:id="rId3" action="ppaction://hlinksldjump"/>
          </p:cNvPr>
          <p:cNvSpPr/>
          <p:nvPr/>
        </p:nvSpPr>
        <p:spPr>
          <a:xfrm>
            <a:off x="548640" y="5943600"/>
            <a:ext cx="1645920" cy="548640"/>
          </a:xfrm>
          <a:prstGeom prst="roundRect">
            <a:avLst>
              <a:gd name="adj" fmla="val 25000"/>
            </a:avLst>
          </a:prstGeom>
          <a:solidFill>
            <a:srgbClr val="2A034C"/>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Home</a:t>
            </a:r>
            <a:endParaRPr lang="en-US" sz="1400" dirty="0"/>
          </a:p>
        </p:txBody>
      </p:sp>
      <p:sp>
        <p:nvSpPr>
          <p:cNvPr id="5" name="BTN_Next">
            <a:hlinkClick r:id="rId3" action="ppaction://hlinksldjump"/>
            <a:extLst>
              <a:ext uri="{FF2B5EF4-FFF2-40B4-BE49-F238E27FC236}">
                <a16:creationId xmlns:a16="http://schemas.microsoft.com/office/drawing/2014/main" id="{12B3850C-901E-25F7-28AB-7B0812705D3B}"/>
              </a:ext>
            </a:extLst>
          </p:cNvPr>
          <p:cNvSpPr/>
          <p:nvPr/>
        </p:nvSpPr>
        <p:spPr>
          <a:xfrm>
            <a:off x="9993977" y="5943600"/>
            <a:ext cx="1645920" cy="548640"/>
          </a:xfrm>
          <a:prstGeom prst="roundRect">
            <a:avLst>
              <a:gd name="adj" fmla="val 25000"/>
            </a:avLst>
          </a:prstGeom>
          <a:solidFill>
            <a:srgbClr val="00CA9F"/>
          </a:solidFill>
          <a:ln/>
        </p:spPr>
        <p:txBody>
          <a:bodyPr wrap="square" rtlCol="0" anchor="ctr"/>
          <a:lstStyle/>
          <a:p>
            <a:pPr marL="0" indent="0" algn="ctr">
              <a:buNone/>
            </a:pPr>
            <a:r>
              <a:rPr lang="en-US" sz="1400" b="1" dirty="0">
                <a:solidFill>
                  <a:srgbClr val="042B29"/>
                </a:solidFill>
                <a:latin typeface="Montserrat" pitchFamily="34" charset="0"/>
                <a:ea typeface="Montserrat" pitchFamily="34" charset="-122"/>
                <a:cs typeface="Montserrat" pitchFamily="34" charset="-120"/>
              </a:rPr>
              <a:t>Next</a:t>
            </a:r>
            <a:endParaRPr lang="en-US" sz="1400" dirty="0"/>
          </a:p>
        </p:txBody>
      </p:sp>
      <p:sp>
        <p:nvSpPr>
          <p:cNvPr id="8" name="BTN_Terms">
            <a:hlinkClick r:id="rId4" action="ppaction://hlinksldjump"/>
            <a:extLst>
              <a:ext uri="{FF2B5EF4-FFF2-40B4-BE49-F238E27FC236}">
                <a16:creationId xmlns:a16="http://schemas.microsoft.com/office/drawing/2014/main" id="{89106FCE-ADD6-B649-F062-78FDA9806C79}"/>
              </a:ext>
            </a:extLst>
          </p:cNvPr>
          <p:cNvSpPr/>
          <p:nvPr/>
        </p:nvSpPr>
        <p:spPr>
          <a:xfrm>
            <a:off x="3466948" y="5943600"/>
            <a:ext cx="1645920" cy="548640"/>
          </a:xfrm>
          <a:prstGeom prst="roundRect">
            <a:avLst>
              <a:gd name="adj" fmla="val 25000"/>
            </a:avLst>
          </a:prstGeom>
          <a:solidFill>
            <a:srgbClr val="2A034C"/>
          </a:solidFill>
          <a:ln>
            <a:solidFill>
              <a:schemeClr val="bg2"/>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T&amp;Cs</a:t>
            </a:r>
            <a:endParaRPr lang="en-US" sz="1400" dirty="0"/>
          </a:p>
        </p:txBody>
      </p:sp>
      <p:sp>
        <p:nvSpPr>
          <p:cNvPr id="9" name="Accent bar"/>
          <p:cNvSpPr/>
          <p:nvPr/>
        </p:nvSpPr>
        <p:spPr>
          <a:xfrm>
            <a:off x="548640" y="1371600"/>
            <a:ext cx="822960" cy="64008"/>
          </a:xfrm>
          <a:prstGeom prst="rect">
            <a:avLst/>
          </a:prstGeom>
          <a:solidFill>
            <a:srgbClr val="00CA9F"/>
          </a:solidFill>
          <a:ln>
            <a:noFill/>
          </a:ln>
        </p:spPr>
        <p:txBody>
          <a:bodyPr/>
          <a:lstStyle/>
          <a:p>
            <a:endParaRPr lang="en-US"/>
          </a:p>
        </p:txBody>
      </p:sp>
      <p:pic>
        <p:nvPicPr>
          <p:cNvPr id="10" name="Emota logo" descr="Emota, an Inizio Engage company"/>
          <p:cNvPicPr>
            <a:picLocks noChangeAspect="1"/>
          </p:cNvPicPr>
          <p:nvPr/>
        </p:nvPicPr>
        <p:blipFill>
          <a:blip r:embed="rIdEmotaLogo"/>
          <a:stretch>
            <a:fillRect/>
          </a:stretch>
        </p:blipFill>
        <p:spPr>
          <a:xfrm>
            <a:off x="10088575" y="548640"/>
            <a:ext cx="1554480" cy="5544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FB"/>
        </a:solidFill>
        <a:effectLst/>
      </p:bgPr>
    </p:bg>
    <p:spTree>
      <p:nvGrpSpPr>
        <p:cNvPr id="1" name="">
          <a:extLst>
            <a:ext uri="{FF2B5EF4-FFF2-40B4-BE49-F238E27FC236}">
              <a16:creationId xmlns:a16="http://schemas.microsoft.com/office/drawing/2014/main" id="{CEB4770F-B33E-5E31-947B-D81A782A9A8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06AEA1-9C00-25DF-2D9A-AB52C8F1ED1E}"/>
              </a:ext>
            </a:extLst>
          </p:cNvPr>
          <p:cNvSpPr/>
          <p:nvPr/>
        </p:nvSpPr>
        <p:spPr>
          <a:xfrm>
            <a:off x="548640" y="457200"/>
            <a:ext cx="91440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Guide - Page 2</a:t>
            </a:r>
            <a:endParaRPr kumimoji="0" lang="en-US" sz="3000" b="0" i="0" u="none" strike="noStrike" kern="1200" cap="none" spc="0" normalizeH="0" baseline="0" noProof="0" dirty="0">
              <a:ln>
                <a:noFill/>
              </a:ln>
              <a:solidFill>
                <a:prstClr val="black"/>
              </a:solidFill>
              <a:effectLst/>
              <a:uLnTx/>
              <a:uFillTx/>
              <a:latin typeface="Montserrat" panose="020F0502020204030204"/>
              <a:ea typeface="+mn-ea"/>
              <a:cs typeface="+mn-cs"/>
            </a:endParaRPr>
          </a:p>
        </p:txBody>
      </p:sp>
      <p:sp>
        <p:nvSpPr>
          <p:cNvPr id="3" name="Text 1">
            <a:extLst>
              <a:ext uri="{FF2B5EF4-FFF2-40B4-BE49-F238E27FC236}">
                <a16:creationId xmlns:a16="http://schemas.microsoft.com/office/drawing/2014/main" id="{DB8F994C-9D66-8A14-F7A7-546A5B0F2EEB}"/>
              </a:ext>
            </a:extLst>
          </p:cNvPr>
          <p:cNvSpPr/>
          <p:nvPr/>
        </p:nvSpPr>
        <p:spPr>
          <a:xfrm>
            <a:off x="548640" y="1554479"/>
            <a:ext cx="8686800" cy="3799945"/>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There are some limitations to the slide render engine that the iPad software uses. Any text that has flowed beyond the bounds of the text box will be cut off and cropping images can be inconsistent.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2A034C"/>
              </a:solidFill>
              <a:latin typeface="Montserrat" pitchFamily="34" charset="0"/>
              <a:ea typeface="Montserrat" pitchFamily="34" charset="-122"/>
              <a:cs typeface="Montserrat"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You can configure the settings of the app when you import the slides. You should also configure guided access mode to restrict the iPad to only running the </a:t>
            </a:r>
            <a:r>
              <a:rPr kumimoji="0" lang="en-US" sz="1600" b="0" i="0" u="none" strike="noStrike" kern="1200" cap="none" spc="0" normalizeH="0" baseline="0" noProof="0" dirty="0" err="1">
                <a:ln>
                  <a:noFill/>
                </a:ln>
                <a:solidFill>
                  <a:srgbClr val="2A034C"/>
                </a:solidFill>
                <a:effectLst/>
                <a:uLnTx/>
                <a:uFillTx/>
                <a:latin typeface="Montserrat" pitchFamily="34" charset="0"/>
                <a:ea typeface="Montserrat" pitchFamily="34" charset="-122"/>
                <a:cs typeface="Montserrat" pitchFamily="34" charset="-120"/>
              </a:rPr>
              <a:t>GGPad</a:t>
            </a:r>
            <a: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 webapp.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2A034C"/>
              </a:solidFill>
              <a:latin typeface="Montserrat" pitchFamily="34" charset="0"/>
              <a:ea typeface="Montserrat" pitchFamily="34" charset="-122"/>
              <a:cs typeface="Montserrat"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You should run </a:t>
            </a:r>
            <a:r>
              <a:rPr kumimoji="0" lang="en-US" sz="1600" b="0" i="0" u="none" strike="noStrike" kern="1200" cap="none" spc="0" normalizeH="0" baseline="0" noProof="0" dirty="0" err="1">
                <a:ln>
                  <a:noFill/>
                </a:ln>
                <a:solidFill>
                  <a:srgbClr val="2A034C"/>
                </a:solidFill>
                <a:effectLst/>
                <a:uLnTx/>
                <a:uFillTx/>
                <a:latin typeface="Montserrat" pitchFamily="34" charset="0"/>
                <a:ea typeface="Montserrat" pitchFamily="34" charset="-122"/>
                <a:cs typeface="Montserrat" pitchFamily="34" charset="-120"/>
              </a:rPr>
              <a:t>GGPad</a:t>
            </a:r>
            <a: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 as a webapp that you have added to the iPad home screen as this reduces the chance of losing any interaction data.</a:t>
            </a:r>
            <a:endParaRPr kumimoji="0" lang="en-US" sz="1600" b="0" i="0" u="none" strike="noStrike" kern="1200" cap="none" spc="0" normalizeH="0" baseline="0" noProof="0" dirty="0">
              <a:ln>
                <a:noFill/>
              </a:ln>
              <a:solidFill>
                <a:prstClr val="black"/>
              </a:solidFill>
              <a:effectLst/>
              <a:uLnTx/>
              <a:uFillTx/>
              <a:latin typeface="Montserrat" panose="020F0502020204030204"/>
              <a:ea typeface="+mn-ea"/>
              <a:cs typeface="+mn-cs"/>
            </a:endParaRPr>
          </a:p>
        </p:txBody>
      </p:sp>
      <p:sp>
        <p:nvSpPr>
          <p:cNvPr id="4" name="BTN_Home">
            <a:hlinkClick r:id="rId3" action="ppaction://hlinksldjump"/>
            <a:extLst>
              <a:ext uri="{FF2B5EF4-FFF2-40B4-BE49-F238E27FC236}">
                <a16:creationId xmlns:a16="http://schemas.microsoft.com/office/drawing/2014/main" id="{D0ECCD7E-3B69-9352-1EAD-BB549E93B519}"/>
              </a:ext>
            </a:extLst>
          </p:cNvPr>
          <p:cNvSpPr/>
          <p:nvPr/>
        </p:nvSpPr>
        <p:spPr>
          <a:xfrm>
            <a:off x="548640" y="5943600"/>
            <a:ext cx="1645920" cy="548640"/>
          </a:xfrm>
          <a:prstGeom prst="roundRect">
            <a:avLst>
              <a:gd name="adj" fmla="val 25000"/>
            </a:avLst>
          </a:prstGeom>
          <a:solidFill>
            <a:srgbClr val="2A034C"/>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BFAFF"/>
                </a:solidFill>
                <a:effectLst/>
                <a:uLnTx/>
                <a:uFillTx/>
                <a:latin typeface="Montserrat" pitchFamily="34" charset="0"/>
                <a:ea typeface="Montserrat" pitchFamily="34" charset="-122"/>
                <a:cs typeface="Montserrat" pitchFamily="34" charset="-120"/>
              </a:rPr>
              <a:t>Home</a:t>
            </a:r>
            <a:endParaRPr kumimoji="0" lang="en-US" sz="1400" b="0" i="0" u="none" strike="noStrike" kern="1200" cap="none" spc="0" normalizeH="0" baseline="0" noProof="0" dirty="0">
              <a:ln>
                <a:noFill/>
              </a:ln>
              <a:solidFill>
                <a:prstClr val="black"/>
              </a:solidFill>
              <a:effectLst/>
              <a:uLnTx/>
              <a:uFillTx/>
              <a:latin typeface="Montserrat" panose="020F0502020204030204"/>
              <a:ea typeface="+mn-ea"/>
              <a:cs typeface="+mn-cs"/>
            </a:endParaRPr>
          </a:p>
        </p:txBody>
      </p:sp>
      <p:sp>
        <p:nvSpPr>
          <p:cNvPr id="6" name="BTN_Terms">
            <a:hlinkClick r:id="rId4" action="ppaction://hlinksldjump"/>
            <a:extLst>
              <a:ext uri="{FF2B5EF4-FFF2-40B4-BE49-F238E27FC236}">
                <a16:creationId xmlns:a16="http://schemas.microsoft.com/office/drawing/2014/main" id="{99076447-D2C8-8DA4-FEB2-7058C6E80B72}"/>
              </a:ext>
            </a:extLst>
          </p:cNvPr>
          <p:cNvSpPr/>
          <p:nvPr/>
        </p:nvSpPr>
        <p:spPr>
          <a:xfrm>
            <a:off x="3466948" y="5943600"/>
            <a:ext cx="1645920" cy="548640"/>
          </a:xfrm>
          <a:prstGeom prst="roundRect">
            <a:avLst>
              <a:gd name="adj" fmla="val 25000"/>
            </a:avLst>
          </a:prstGeom>
          <a:solidFill>
            <a:srgbClr val="2A034C"/>
          </a:solidFill>
          <a:ln>
            <a:solidFill>
              <a:schemeClr val="bg2"/>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T&amp;Cs</a:t>
            </a:r>
            <a:endParaRPr lang="en-US" sz="1400" dirty="0"/>
          </a:p>
        </p:txBody>
      </p:sp>
      <p:sp>
        <p:nvSpPr>
          <p:cNvPr id="7" name="Accent bar"/>
          <p:cNvSpPr/>
          <p:nvPr/>
        </p:nvSpPr>
        <p:spPr>
          <a:xfrm>
            <a:off x="548640" y="1371600"/>
            <a:ext cx="822960" cy="64008"/>
          </a:xfrm>
          <a:prstGeom prst="rect">
            <a:avLst/>
          </a:prstGeom>
          <a:solidFill>
            <a:srgbClr val="00CA9F"/>
          </a:solidFill>
          <a:ln>
            <a:noFill/>
          </a:ln>
        </p:spPr>
        <p:txBody>
          <a:bodyPr/>
          <a:lstStyle/>
          <a:p>
            <a:endParaRPr lang="en-US"/>
          </a:p>
        </p:txBody>
      </p:sp>
      <p:pic>
        <p:nvPicPr>
          <p:cNvPr id="8" name="Emota logo" descr="Emota, an Inizio Engage company"/>
          <p:cNvPicPr>
            <a:picLocks noChangeAspect="1"/>
          </p:cNvPicPr>
          <p:nvPr/>
        </p:nvPicPr>
        <p:blipFill>
          <a:blip r:embed="rIdEmotaLogo"/>
          <a:stretch>
            <a:fillRect/>
          </a:stretch>
        </p:blipFill>
        <p:spPr>
          <a:xfrm>
            <a:off x="10088575" y="548640"/>
            <a:ext cx="1554480" cy="554431"/>
          </a:xfrm>
          <a:prstGeom prst="rect">
            <a:avLst/>
          </a:prstGeom>
        </p:spPr>
      </p:pic>
    </p:spTree>
    <p:extLst>
      <p:ext uri="{BB962C8B-B14F-4D97-AF65-F5344CB8AC3E}">
        <p14:creationId xmlns:p14="http://schemas.microsoft.com/office/powerpoint/2010/main" val="589714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4FB"/>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914400"/>
          </a:xfrm>
          <a:prstGeom prst="rect">
            <a:avLst/>
          </a:prstGeom>
          <a:noFill/>
          <a:ln/>
        </p:spPr>
        <p:txBody>
          <a:bodyPr wrap="square" rtlCol="0" anchor="ctr"/>
          <a:lstStyle/>
          <a:p>
            <a:pPr marL="0" indent="0">
              <a:buNone/>
            </a:pPr>
            <a:r>
              <a:rPr lang="en-US" sz="3000" b="1" dirty="0">
                <a:solidFill>
                  <a:srgbClr val="2A034C"/>
                </a:solidFill>
                <a:latin typeface="Montserrat" pitchFamily="34" charset="0"/>
                <a:ea typeface="Montserrat" pitchFamily="34" charset="-122"/>
                <a:cs typeface="Montserrat" pitchFamily="34" charset="-120"/>
              </a:rPr>
              <a:t>Innovation</a:t>
            </a:r>
            <a:endParaRPr lang="en-US" sz="3000" dirty="0"/>
          </a:p>
        </p:txBody>
      </p:sp>
      <p:sp>
        <p:nvSpPr>
          <p:cNvPr id="3" name="Text 1"/>
          <p:cNvSpPr/>
          <p:nvPr/>
        </p:nvSpPr>
        <p:spPr>
          <a:xfrm>
            <a:off x="548640" y="1554480"/>
            <a:ext cx="8686800" cy="1828800"/>
          </a:xfrm>
          <a:prstGeom prst="rect">
            <a:avLst/>
          </a:prstGeom>
          <a:noFill/>
          <a:ln/>
        </p:spPr>
        <p:txBody>
          <a:bodyPr wrap="square" rtlCol="0" anchor="t"/>
          <a:lstStyle/>
          <a:p>
            <a:pPr marL="0" indent="0">
              <a:buNone/>
            </a:pPr>
            <a:r>
              <a:rPr lang="en-US" sz="1600" dirty="0">
                <a:solidFill>
                  <a:srgbClr val="2A034C"/>
                </a:solidFill>
                <a:latin typeface="Montserrat" pitchFamily="34" charset="0"/>
                <a:ea typeface="Montserrat" pitchFamily="34" charset="-122"/>
                <a:cs typeface="Montserrat" pitchFamily="34" charset="-120"/>
              </a:rPr>
              <a:t>This is the Innovation destination slide. It demonstrates text, a solid background and a Home link back to slide 1.</a:t>
            </a:r>
            <a:endParaRPr lang="en-US" sz="1600" dirty="0"/>
          </a:p>
        </p:txBody>
      </p:sp>
      <p:sp>
        <p:nvSpPr>
          <p:cNvPr id="4" name="BTN_Home">
            <a:hlinkClick r:id="rId3" action="ppaction://hlinksldjump"/>
          </p:cNvPr>
          <p:cNvSpPr/>
          <p:nvPr/>
        </p:nvSpPr>
        <p:spPr>
          <a:xfrm>
            <a:off x="548640" y="5943600"/>
            <a:ext cx="1645920" cy="548640"/>
          </a:xfrm>
          <a:prstGeom prst="roundRect">
            <a:avLst>
              <a:gd name="adj" fmla="val 25000"/>
            </a:avLst>
          </a:prstGeom>
          <a:solidFill>
            <a:srgbClr val="2A034C"/>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Home</a:t>
            </a:r>
            <a:endParaRPr lang="en-US" sz="1400" dirty="0"/>
          </a:p>
        </p:txBody>
      </p:sp>
      <p:sp>
        <p:nvSpPr>
          <p:cNvPr id="6" name="BTN_Terms">
            <a:hlinkClick r:id="rId4" action="ppaction://hlinksldjump"/>
            <a:extLst>
              <a:ext uri="{FF2B5EF4-FFF2-40B4-BE49-F238E27FC236}">
                <a16:creationId xmlns:a16="http://schemas.microsoft.com/office/drawing/2014/main" id="{1DAB0F41-7943-356C-A24A-70231D828551}"/>
              </a:ext>
            </a:extLst>
          </p:cNvPr>
          <p:cNvSpPr/>
          <p:nvPr/>
        </p:nvSpPr>
        <p:spPr>
          <a:xfrm>
            <a:off x="3466948" y="5943600"/>
            <a:ext cx="1645920" cy="548640"/>
          </a:xfrm>
          <a:prstGeom prst="roundRect">
            <a:avLst>
              <a:gd name="adj" fmla="val 25000"/>
            </a:avLst>
          </a:prstGeom>
          <a:solidFill>
            <a:srgbClr val="2A034C"/>
          </a:solidFill>
          <a:ln>
            <a:solidFill>
              <a:schemeClr val="bg2"/>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T&amp;Cs</a:t>
            </a:r>
            <a:endParaRPr lang="en-US" sz="1400" dirty="0"/>
          </a:p>
        </p:txBody>
      </p:sp>
      <p:sp>
        <p:nvSpPr>
          <p:cNvPr id="7" name="Accent bar"/>
          <p:cNvSpPr/>
          <p:nvPr/>
        </p:nvSpPr>
        <p:spPr>
          <a:xfrm>
            <a:off x="548640" y="1371600"/>
            <a:ext cx="822960" cy="64008"/>
          </a:xfrm>
          <a:prstGeom prst="rect">
            <a:avLst/>
          </a:prstGeom>
          <a:solidFill>
            <a:srgbClr val="7949F0"/>
          </a:solidFill>
          <a:ln>
            <a:noFill/>
          </a:ln>
        </p:spPr>
        <p:txBody>
          <a:bodyPr/>
          <a:lstStyle/>
          <a:p>
            <a:endParaRPr lang="en-US"/>
          </a:p>
        </p:txBody>
      </p:sp>
      <p:pic>
        <p:nvPicPr>
          <p:cNvPr id="8" name="Emota logo" descr="Emota, an Inizio Engage company"/>
          <p:cNvPicPr>
            <a:picLocks noChangeAspect="1"/>
          </p:cNvPicPr>
          <p:nvPr/>
        </p:nvPicPr>
        <p:blipFill>
          <a:blip r:embed="rIdEmotaLogo"/>
          <a:stretch>
            <a:fillRect/>
          </a:stretch>
        </p:blipFill>
        <p:spPr>
          <a:xfrm>
            <a:off x="10088575" y="548640"/>
            <a:ext cx="1554480" cy="5544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4FB"/>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914400"/>
          </a:xfrm>
          <a:prstGeom prst="rect">
            <a:avLst/>
          </a:prstGeom>
          <a:noFill/>
          <a:ln/>
        </p:spPr>
        <p:txBody>
          <a:bodyPr wrap="square" rtlCol="0" anchor="ctr"/>
          <a:lstStyle/>
          <a:p>
            <a:pPr marL="0" indent="0">
              <a:buNone/>
            </a:pPr>
            <a:r>
              <a:rPr lang="en-US" sz="3000" b="1" dirty="0">
                <a:solidFill>
                  <a:srgbClr val="2A034C"/>
                </a:solidFill>
                <a:latin typeface="Montserrat" pitchFamily="34" charset="0"/>
                <a:ea typeface="Montserrat" pitchFamily="34" charset="-122"/>
                <a:cs typeface="Montserrat" pitchFamily="34" charset="-120"/>
              </a:rPr>
              <a:t>People</a:t>
            </a:r>
            <a:endParaRPr lang="en-US" sz="3000" dirty="0"/>
          </a:p>
        </p:txBody>
      </p:sp>
      <p:sp>
        <p:nvSpPr>
          <p:cNvPr id="3" name="Text 1"/>
          <p:cNvSpPr/>
          <p:nvPr/>
        </p:nvSpPr>
        <p:spPr>
          <a:xfrm>
            <a:off x="548640" y="1554480"/>
            <a:ext cx="8686800" cy="1828800"/>
          </a:xfrm>
          <a:prstGeom prst="rect">
            <a:avLst/>
          </a:prstGeom>
          <a:noFill/>
          <a:ln/>
        </p:spPr>
        <p:txBody>
          <a:bodyPr wrap="square" rtlCol="0" anchor="t"/>
          <a:lstStyle/>
          <a:p>
            <a:pPr marL="0" indent="0">
              <a:buNone/>
            </a:pPr>
            <a:r>
              <a:rPr lang="en-US" sz="1600" dirty="0">
                <a:solidFill>
                  <a:srgbClr val="2A034C"/>
                </a:solidFill>
                <a:latin typeface="Montserrat" pitchFamily="34" charset="0"/>
                <a:ea typeface="Montserrat" pitchFamily="34" charset="-122"/>
                <a:cs typeface="Montserrat" pitchFamily="34" charset="-120"/>
              </a:rPr>
              <a:t>This is the People destination slide. It demonstrates text, a solid background and a Home link back to slide 1.</a:t>
            </a:r>
            <a:endParaRPr lang="en-US" sz="1600" dirty="0"/>
          </a:p>
        </p:txBody>
      </p:sp>
      <p:sp>
        <p:nvSpPr>
          <p:cNvPr id="4" name="BTN_Home">
            <a:hlinkClick r:id="rId3" action="ppaction://hlinksldjump"/>
          </p:cNvPr>
          <p:cNvSpPr/>
          <p:nvPr/>
        </p:nvSpPr>
        <p:spPr>
          <a:xfrm>
            <a:off x="548640" y="5943600"/>
            <a:ext cx="1645920" cy="548640"/>
          </a:xfrm>
          <a:prstGeom prst="roundRect">
            <a:avLst>
              <a:gd name="adj" fmla="val 25000"/>
            </a:avLst>
          </a:prstGeom>
          <a:solidFill>
            <a:srgbClr val="2A034C"/>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Home</a:t>
            </a:r>
            <a:endParaRPr lang="en-US" sz="1400" dirty="0"/>
          </a:p>
        </p:txBody>
      </p:sp>
      <p:sp>
        <p:nvSpPr>
          <p:cNvPr id="5" name="BTN_Terms">
            <a:hlinkClick r:id="rId4" action="ppaction://hlinksldjump"/>
            <a:extLst>
              <a:ext uri="{FF2B5EF4-FFF2-40B4-BE49-F238E27FC236}">
                <a16:creationId xmlns:a16="http://schemas.microsoft.com/office/drawing/2014/main" id="{980D1034-E51B-9730-0986-C983C691ED2E}"/>
              </a:ext>
            </a:extLst>
          </p:cNvPr>
          <p:cNvSpPr/>
          <p:nvPr/>
        </p:nvSpPr>
        <p:spPr>
          <a:xfrm>
            <a:off x="3466948" y="5943600"/>
            <a:ext cx="1645920" cy="548640"/>
          </a:xfrm>
          <a:prstGeom prst="roundRect">
            <a:avLst>
              <a:gd name="adj" fmla="val 25000"/>
            </a:avLst>
          </a:prstGeom>
          <a:solidFill>
            <a:srgbClr val="2A034C"/>
          </a:solidFill>
          <a:ln>
            <a:solidFill>
              <a:schemeClr val="bg2"/>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T&amp;Cs</a:t>
            </a:r>
            <a:endParaRPr lang="en-US" sz="1400" dirty="0"/>
          </a:p>
        </p:txBody>
      </p:sp>
      <p:sp>
        <p:nvSpPr>
          <p:cNvPr id="6" name="Accent bar"/>
          <p:cNvSpPr/>
          <p:nvPr/>
        </p:nvSpPr>
        <p:spPr>
          <a:xfrm>
            <a:off x="548640" y="1371600"/>
            <a:ext cx="822960" cy="64008"/>
          </a:xfrm>
          <a:prstGeom prst="rect">
            <a:avLst/>
          </a:prstGeom>
          <a:solidFill>
            <a:srgbClr val="451284"/>
          </a:solidFill>
          <a:ln>
            <a:noFill/>
          </a:ln>
        </p:spPr>
        <p:txBody>
          <a:bodyPr/>
          <a:lstStyle/>
          <a:p>
            <a:endParaRPr lang="en-US"/>
          </a:p>
        </p:txBody>
      </p:sp>
      <p:pic>
        <p:nvPicPr>
          <p:cNvPr id="7" name="Emota logo" descr="Emota, an Inizio Engage company"/>
          <p:cNvPicPr>
            <a:picLocks noChangeAspect="1"/>
          </p:cNvPicPr>
          <p:nvPr/>
        </p:nvPicPr>
        <p:blipFill>
          <a:blip r:embed="rIdEmotaLogo"/>
          <a:stretch>
            <a:fillRect/>
          </a:stretch>
        </p:blipFill>
        <p:spPr>
          <a:xfrm>
            <a:off x="10088575" y="548640"/>
            <a:ext cx="1554480" cy="5544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4FB"/>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914400"/>
          </a:xfrm>
          <a:prstGeom prst="rect">
            <a:avLst/>
          </a:prstGeom>
          <a:noFill/>
          <a:ln/>
        </p:spPr>
        <p:txBody>
          <a:bodyPr wrap="square" rtlCol="0" anchor="ctr"/>
          <a:lstStyle/>
          <a:p>
            <a:pPr marL="0" indent="0">
              <a:buNone/>
            </a:pPr>
            <a:r>
              <a:rPr lang="en-US" sz="3000" b="1" dirty="0">
                <a:solidFill>
                  <a:srgbClr val="2A034C"/>
                </a:solidFill>
                <a:latin typeface="Montserrat" pitchFamily="34" charset="0"/>
                <a:ea typeface="Montserrat" pitchFamily="34" charset="-122"/>
                <a:cs typeface="Montserrat" pitchFamily="34" charset="-120"/>
              </a:rPr>
              <a:t>Contact</a:t>
            </a:r>
            <a:endParaRPr lang="en-US" sz="3000" dirty="0">
              <a:solidFill>
                <a:srgbClr val="2A034C"/>
              </a:solidFill>
            </a:endParaRPr>
          </a:p>
        </p:txBody>
      </p:sp>
      <p:sp>
        <p:nvSpPr>
          <p:cNvPr id="3" name="Text 1"/>
          <p:cNvSpPr/>
          <p:nvPr/>
        </p:nvSpPr>
        <p:spPr>
          <a:xfrm>
            <a:off x="548640" y="1554480"/>
            <a:ext cx="8686800" cy="1828800"/>
          </a:xfrm>
          <a:prstGeom prst="rect">
            <a:avLst/>
          </a:prstGeom>
          <a:noFill/>
          <a:ln/>
        </p:spPr>
        <p:txBody>
          <a:bodyPr wrap="square" rtlCol="0" anchor="t"/>
          <a:lstStyle/>
          <a:p>
            <a:pPr marL="0" indent="0">
              <a:buNone/>
            </a:pPr>
            <a:r>
              <a:rPr lang="en-US" sz="1600" dirty="0">
                <a:solidFill>
                  <a:srgbClr val="2A034C"/>
                </a:solidFill>
                <a:latin typeface="Montserrat" pitchFamily="34" charset="0"/>
                <a:ea typeface="Montserrat" pitchFamily="34" charset="-122"/>
                <a:cs typeface="Montserrat" pitchFamily="34" charset="-120"/>
              </a:rPr>
              <a:t>This is the Contact destination slide. It demonstrates text, a solid background and a Home link back to slide 1.</a:t>
            </a:r>
            <a:endParaRPr lang="en-US" sz="1600" dirty="0">
              <a:solidFill>
                <a:srgbClr val="2A034C"/>
              </a:solidFill>
            </a:endParaRPr>
          </a:p>
        </p:txBody>
      </p:sp>
      <p:sp>
        <p:nvSpPr>
          <p:cNvPr id="4" name="BTN_Home">
            <a:hlinkClick r:id="rId3" action="ppaction://hlinksldjump"/>
          </p:cNvPr>
          <p:cNvSpPr/>
          <p:nvPr/>
        </p:nvSpPr>
        <p:spPr>
          <a:xfrm>
            <a:off x="548640" y="5943600"/>
            <a:ext cx="1645920" cy="548640"/>
          </a:xfrm>
          <a:prstGeom prst="roundRect">
            <a:avLst>
              <a:gd name="adj" fmla="val 25000"/>
            </a:avLst>
          </a:prstGeom>
          <a:solidFill>
            <a:srgbClr val="2A034C"/>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Home</a:t>
            </a:r>
            <a:endParaRPr lang="en-US" sz="1400" dirty="0"/>
          </a:p>
        </p:txBody>
      </p:sp>
      <p:sp>
        <p:nvSpPr>
          <p:cNvPr id="5" name="BTN_Terms">
            <a:hlinkClick r:id="rId4" action="ppaction://hlinksldjump"/>
            <a:extLst>
              <a:ext uri="{FF2B5EF4-FFF2-40B4-BE49-F238E27FC236}">
                <a16:creationId xmlns:a16="http://schemas.microsoft.com/office/drawing/2014/main" id="{5FE546F3-60AF-86F9-820B-5EDB2FD096BB}"/>
              </a:ext>
            </a:extLst>
          </p:cNvPr>
          <p:cNvSpPr/>
          <p:nvPr/>
        </p:nvSpPr>
        <p:spPr>
          <a:xfrm>
            <a:off x="3466948" y="5943600"/>
            <a:ext cx="1645920" cy="548640"/>
          </a:xfrm>
          <a:prstGeom prst="roundRect">
            <a:avLst>
              <a:gd name="adj" fmla="val 25000"/>
            </a:avLst>
          </a:prstGeom>
          <a:solidFill>
            <a:srgbClr val="2A034C"/>
          </a:solidFill>
          <a:ln>
            <a:solidFill>
              <a:schemeClr val="bg2"/>
            </a:solidFill>
          </a:ln>
        </p:spPr>
        <p:txBody>
          <a:bodyPr wrap="square" rtlCol="0" anchor="ctr"/>
          <a:lstStyle/>
          <a:p>
            <a:pPr marL="0" indent="0" algn="ctr">
              <a:buNone/>
            </a:pPr>
            <a:r>
              <a:rPr lang="en-US" sz="1400" b="1" dirty="0">
                <a:solidFill>
                  <a:srgbClr val="FBFAFF"/>
                </a:solidFill>
                <a:latin typeface="Montserrat" pitchFamily="34" charset="0"/>
                <a:ea typeface="Montserrat" pitchFamily="34" charset="-122"/>
                <a:cs typeface="Montserrat" pitchFamily="34" charset="-120"/>
              </a:rPr>
              <a:t>T&amp;Cs</a:t>
            </a:r>
            <a:endParaRPr lang="en-US" sz="1400" dirty="0"/>
          </a:p>
        </p:txBody>
      </p:sp>
      <p:sp>
        <p:nvSpPr>
          <p:cNvPr id="6" name="Accent bar"/>
          <p:cNvSpPr/>
          <p:nvPr/>
        </p:nvSpPr>
        <p:spPr>
          <a:xfrm>
            <a:off x="548640" y="1371600"/>
            <a:ext cx="822960" cy="64008"/>
          </a:xfrm>
          <a:prstGeom prst="rect">
            <a:avLst/>
          </a:prstGeom>
          <a:solidFill>
            <a:srgbClr val="7EF5BD"/>
          </a:solidFill>
          <a:ln>
            <a:noFill/>
          </a:ln>
        </p:spPr>
        <p:txBody>
          <a:bodyPr/>
          <a:lstStyle/>
          <a:p>
            <a:endParaRPr lang="en-US"/>
          </a:p>
        </p:txBody>
      </p:sp>
      <p:pic>
        <p:nvPicPr>
          <p:cNvPr id="7" name="Emota logo" descr="Emota, an Inizio Engage company"/>
          <p:cNvPicPr>
            <a:picLocks noChangeAspect="1"/>
          </p:cNvPicPr>
          <p:nvPr/>
        </p:nvPicPr>
        <p:blipFill>
          <a:blip r:embed="rIdEmotaLogo"/>
          <a:stretch>
            <a:fillRect/>
          </a:stretch>
        </p:blipFill>
        <p:spPr>
          <a:xfrm>
            <a:off x="10088575" y="548640"/>
            <a:ext cx="1554480" cy="5544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FB"/>
        </a:solidFill>
        <a:effectLst/>
      </p:bgPr>
    </p:bg>
    <p:spTree>
      <p:nvGrpSpPr>
        <p:cNvPr id="1" name="">
          <a:extLst>
            <a:ext uri="{FF2B5EF4-FFF2-40B4-BE49-F238E27FC236}">
              <a16:creationId xmlns:a16="http://schemas.microsoft.com/office/drawing/2014/main" id="{F3756800-8B0B-5E52-70F7-665232F60A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01B3AE-24D2-46AF-DE43-BE4145C55A77}"/>
              </a:ext>
            </a:extLst>
          </p:cNvPr>
          <p:cNvSpPr/>
          <p:nvPr/>
        </p:nvSpPr>
        <p:spPr>
          <a:xfrm>
            <a:off x="548640" y="457200"/>
            <a:ext cx="91440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Terms and Conditions</a:t>
            </a:r>
            <a:endParaRPr kumimoji="0" lang="en-US" sz="3000" b="0" i="0" u="none" strike="noStrike" kern="1200" cap="none" spc="0" normalizeH="0" baseline="0" noProof="0" dirty="0">
              <a:ln>
                <a:noFill/>
              </a:ln>
              <a:solidFill>
                <a:prstClr val="black"/>
              </a:solidFill>
              <a:effectLst/>
              <a:uLnTx/>
              <a:uFillTx/>
              <a:latin typeface="Montserrat" panose="020F0502020204030204"/>
              <a:ea typeface="+mn-ea"/>
              <a:cs typeface="+mn-cs"/>
            </a:endParaRPr>
          </a:p>
        </p:txBody>
      </p:sp>
      <p:sp>
        <p:nvSpPr>
          <p:cNvPr id="3" name="Text 1">
            <a:extLst>
              <a:ext uri="{FF2B5EF4-FFF2-40B4-BE49-F238E27FC236}">
                <a16:creationId xmlns:a16="http://schemas.microsoft.com/office/drawing/2014/main" id="{930A4AEB-FD72-5751-938B-DF814B61170F}"/>
              </a:ext>
            </a:extLst>
          </p:cNvPr>
          <p:cNvSpPr/>
          <p:nvPr/>
        </p:nvSpPr>
        <p:spPr>
          <a:xfrm>
            <a:off x="548640" y="1554480"/>
            <a:ext cx="8686800" cy="1828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This is an example of a slide that will navigate to the previous slide.</a:t>
            </a:r>
            <a:b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br>
            <a:b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br>
            <a: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This special case needs to be added by choosing:</a:t>
            </a:r>
            <a:b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br>
            <a:b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br>
            <a:r>
              <a:rPr kumimoji="0" lang="en-US" sz="1600" b="0" i="0" u="none" strike="noStrike" kern="1200" cap="none" spc="0" normalizeH="0" baseline="0" noProof="0" dirty="0">
                <a:ln>
                  <a:noFill/>
                </a:ln>
                <a:solidFill>
                  <a:srgbClr val="2A034C"/>
                </a:solidFill>
                <a:effectLst/>
                <a:uLnTx/>
                <a:uFillTx/>
                <a:latin typeface="Montserrat" pitchFamily="34" charset="0"/>
                <a:ea typeface="Montserrat" pitchFamily="34" charset="-122"/>
                <a:cs typeface="Montserrat" pitchFamily="34" charset="-120"/>
              </a:rPr>
              <a:t>Insert &gt; Action &gt; Action on click &gt; Last Slide Viewed </a:t>
            </a:r>
            <a:endParaRPr kumimoji="0" lang="en-US" sz="1600" b="0" i="0" u="none" strike="noStrike" kern="1200" cap="none" spc="0" normalizeH="0" baseline="0" noProof="0" dirty="0">
              <a:ln>
                <a:noFill/>
              </a:ln>
              <a:solidFill>
                <a:prstClr val="black"/>
              </a:solidFill>
              <a:effectLst/>
              <a:uLnTx/>
              <a:uFillTx/>
              <a:latin typeface="Montserrat" panose="020F0502020204030204"/>
              <a:ea typeface="+mn-ea"/>
              <a:cs typeface="+mn-cs"/>
            </a:endParaRPr>
          </a:p>
        </p:txBody>
      </p:sp>
      <p:sp>
        <p:nvSpPr>
          <p:cNvPr id="4" name="BTN_Home">
            <a:hlinkClick r:id="rId3" action="ppaction://hlinksldjump"/>
            <a:extLst>
              <a:ext uri="{FF2B5EF4-FFF2-40B4-BE49-F238E27FC236}">
                <a16:creationId xmlns:a16="http://schemas.microsoft.com/office/drawing/2014/main" id="{E10032C3-E61E-AA12-B48D-3F98400DCA86}"/>
              </a:ext>
            </a:extLst>
          </p:cNvPr>
          <p:cNvSpPr/>
          <p:nvPr/>
        </p:nvSpPr>
        <p:spPr>
          <a:xfrm>
            <a:off x="548640" y="5943600"/>
            <a:ext cx="1645920" cy="548640"/>
          </a:xfrm>
          <a:prstGeom prst="roundRect">
            <a:avLst>
              <a:gd name="adj" fmla="val 25000"/>
            </a:avLst>
          </a:prstGeom>
          <a:solidFill>
            <a:srgbClr val="2A034C"/>
          </a:solid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BFAFF"/>
                </a:solidFill>
                <a:effectLst/>
                <a:uLnTx/>
                <a:uFillTx/>
                <a:latin typeface="Montserrat" pitchFamily="34" charset="0"/>
                <a:ea typeface="Montserrat" pitchFamily="34" charset="-122"/>
                <a:cs typeface="Montserrat" pitchFamily="34" charset="-120"/>
              </a:rPr>
              <a:t>Home</a:t>
            </a:r>
            <a:endParaRPr kumimoji="0" lang="en-US" sz="1400" b="0" i="0" u="none" strike="noStrike" kern="1200" cap="none" spc="0" normalizeH="0" baseline="0" noProof="0" dirty="0">
              <a:ln>
                <a:noFill/>
              </a:ln>
              <a:solidFill>
                <a:prstClr val="black"/>
              </a:solidFill>
              <a:effectLst/>
              <a:uLnTx/>
              <a:uFillTx/>
              <a:latin typeface="Montserrat" panose="020F0502020204030204"/>
              <a:ea typeface="+mn-ea"/>
              <a:cs typeface="+mn-cs"/>
            </a:endParaRPr>
          </a:p>
        </p:txBody>
      </p:sp>
      <p:sp>
        <p:nvSpPr>
          <p:cNvPr id="5" name="BTN_Terms">
            <a:hlinkClick r:id="" action="ppaction://hlinkshowjump?jump=lastslideviewed"/>
            <a:extLst>
              <a:ext uri="{FF2B5EF4-FFF2-40B4-BE49-F238E27FC236}">
                <a16:creationId xmlns:a16="http://schemas.microsoft.com/office/drawing/2014/main" id="{C43321BA-5AC6-0BDC-61A3-09AD0E225F19}"/>
              </a:ext>
            </a:extLst>
          </p:cNvPr>
          <p:cNvSpPr/>
          <p:nvPr/>
        </p:nvSpPr>
        <p:spPr>
          <a:xfrm>
            <a:off x="3466948" y="5943600"/>
            <a:ext cx="1645920" cy="548640"/>
          </a:xfrm>
          <a:prstGeom prst="roundRect">
            <a:avLst>
              <a:gd name="adj" fmla="val 25000"/>
            </a:avLst>
          </a:prstGeom>
          <a:solidFill>
            <a:srgbClr val="00CA9F"/>
          </a:solidFill>
          <a:ln>
            <a:solidFill>
              <a:schemeClr val="bg2"/>
            </a:solidFill>
          </a:ln>
        </p:spPr>
        <p:txBody>
          <a:bodyPr wrap="square" rtlCol="0" anchor="ctr"/>
          <a:lstStyle/>
          <a:p>
            <a:pPr marL="0" indent="0" algn="ctr">
              <a:buNone/>
            </a:pPr>
            <a:r>
              <a:rPr lang="en-US" sz="1400" b="1" dirty="0">
                <a:solidFill>
                  <a:srgbClr val="042B29"/>
                </a:solidFill>
                <a:latin typeface="Montserrat" pitchFamily="34" charset="0"/>
                <a:ea typeface="Montserrat" pitchFamily="34" charset="-122"/>
                <a:cs typeface="Montserrat" pitchFamily="34" charset="-120"/>
              </a:rPr>
              <a:t>&lt; Back</a:t>
            </a:r>
            <a:endParaRPr lang="en-US" sz="1400" dirty="0"/>
          </a:p>
        </p:txBody>
      </p:sp>
      <p:sp>
        <p:nvSpPr>
          <p:cNvPr id="6" name="Accent bar"/>
          <p:cNvSpPr/>
          <p:nvPr/>
        </p:nvSpPr>
        <p:spPr>
          <a:xfrm>
            <a:off x="548640" y="1371600"/>
            <a:ext cx="822960" cy="64008"/>
          </a:xfrm>
          <a:prstGeom prst="rect">
            <a:avLst/>
          </a:prstGeom>
          <a:solidFill>
            <a:srgbClr val="00CA9F"/>
          </a:solidFill>
          <a:ln>
            <a:noFill/>
          </a:ln>
        </p:spPr>
        <p:txBody>
          <a:bodyPr/>
          <a:lstStyle/>
          <a:p>
            <a:endParaRPr lang="en-US"/>
          </a:p>
        </p:txBody>
      </p:sp>
      <p:pic>
        <p:nvPicPr>
          <p:cNvPr id="7" name="Emota logo" descr="Emota, an Inizio Engage company"/>
          <p:cNvPicPr>
            <a:picLocks noChangeAspect="1"/>
          </p:cNvPicPr>
          <p:nvPr/>
        </p:nvPicPr>
        <p:blipFill>
          <a:blip r:embed="rIdEmotaLogo"/>
          <a:stretch>
            <a:fillRect/>
          </a:stretch>
        </p:blipFill>
        <p:spPr>
          <a:xfrm>
            <a:off x="10088575" y="548640"/>
            <a:ext cx="1554480" cy="554431"/>
          </a:xfrm>
          <a:prstGeom prst="rect">
            <a:avLst/>
          </a:prstGeom>
        </p:spPr>
      </p:pic>
    </p:spTree>
    <p:extLst>
      <p:ext uri="{BB962C8B-B14F-4D97-AF65-F5344CB8AC3E}">
        <p14:creationId xmlns:p14="http://schemas.microsoft.com/office/powerpoint/2010/main" val="2903637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6F4FB"/>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marL="0" indent="0">
              <a:buNone/>
            </a:pPr>
            <a:r>
              <a:rPr lang="en-US" sz="2000" b="1" dirty="0">
                <a:solidFill>
                  <a:srgbClr val="2A034C"/>
                </a:solidFill>
                <a:latin typeface="Montserrat" pitchFamily="34" charset="0"/>
                <a:ea typeface="Montserrat" pitchFamily="34" charset="-122"/>
                <a:cs typeface="Montserrat" pitchFamily="34" charset="-120"/>
              </a:rPr>
              <a:t>Template rules (this slide is not linked from Home)</a:t>
            </a:r>
            <a:endParaRPr lang="en-US" sz="2000" dirty="0"/>
          </a:p>
        </p:txBody>
      </p:sp>
      <p:sp>
        <p:nvSpPr>
          <p:cNvPr id="3" name="Text 1"/>
          <p:cNvSpPr/>
          <p:nvPr/>
        </p:nvSpPr>
        <p:spPr>
          <a:xfrm>
            <a:off x="731520" y="1097280"/>
            <a:ext cx="10515600" cy="3657600"/>
          </a:xfrm>
          <a:prstGeom prst="rect">
            <a:avLst/>
          </a:prstGeom>
          <a:noFill/>
          <a:ln/>
        </p:spPr>
        <p:txBody>
          <a:bodyPr wrap="square" rtlCol="0" anchor="ctr"/>
          <a:lstStyle/>
          <a:p>
            <a:pPr marL="342900" indent="-342900">
              <a:buSzPct val="100000"/>
              <a:buChar char="•"/>
            </a:pPr>
            <a:r>
              <a:rPr lang="en-US" sz="1400" dirty="0">
                <a:solidFill>
                  <a:srgbClr val="2A034C"/>
                </a:solidFill>
                <a:latin typeface="Montserrat" pitchFamily="34" charset="0"/>
                <a:ea typeface="Montserrat" pitchFamily="34" charset="-122"/>
                <a:cs typeface="Montserrat" pitchFamily="34" charset="-120"/>
              </a:rPr>
              <a:t>Slide 1 is the home slide and must contain at least 2 button shapes.</a:t>
            </a:r>
            <a:endParaRPr lang="en-US" sz="1400" dirty="0"/>
          </a:p>
          <a:p>
            <a:pPr marL="342900" indent="-342900">
              <a:buSzPct val="100000"/>
              <a:buChar char="•"/>
            </a:pPr>
            <a:r>
              <a:rPr lang="en-US" sz="1400" dirty="0">
                <a:solidFill>
                  <a:srgbClr val="2A034C"/>
                </a:solidFill>
                <a:latin typeface="Montserrat" pitchFamily="34" charset="0"/>
                <a:ea typeface="Montserrat" pitchFamily="34" charset="-122"/>
                <a:cs typeface="Montserrat" pitchFamily="34" charset="-120"/>
              </a:rPr>
              <a:t>Each button links to a later slide via Insert &gt; Link &gt; Place in This Document &gt; Slide N.</a:t>
            </a:r>
            <a:endParaRPr lang="en-US" sz="1400" dirty="0"/>
          </a:p>
          <a:p>
            <a:pPr marL="342900" indent="-342900">
              <a:buSzPct val="100000"/>
              <a:buChar char="•"/>
            </a:pPr>
            <a:r>
              <a:rPr lang="en-US" sz="1400" dirty="0">
                <a:solidFill>
                  <a:srgbClr val="2A034C"/>
                </a:solidFill>
                <a:latin typeface="Montserrat" pitchFamily="34" charset="0"/>
                <a:ea typeface="Montserrat" pitchFamily="34" charset="-122"/>
                <a:cs typeface="Montserrat" pitchFamily="34" charset="-120"/>
              </a:rPr>
              <a:t>Destination slides should include a shape linked back to slide 1 ("Home").</a:t>
            </a:r>
            <a:endParaRPr lang="en-US" sz="1400" dirty="0"/>
          </a:p>
          <a:p>
            <a:pPr marL="342900" indent="-342900">
              <a:buSzPct val="100000"/>
              <a:buChar char="•"/>
            </a:pPr>
            <a:r>
              <a:rPr lang="en-US" sz="1400" dirty="0">
                <a:solidFill>
                  <a:srgbClr val="2A034C"/>
                </a:solidFill>
                <a:latin typeface="Montserrat" pitchFamily="34" charset="0"/>
                <a:ea typeface="Montserrat" pitchFamily="34" charset="-122"/>
                <a:cs typeface="Montserrat" pitchFamily="34" charset="-120"/>
              </a:rPr>
              <a:t>Slides not linked from slide 1 are ignored (flagged as a warning).</a:t>
            </a:r>
            <a:endParaRPr lang="en-US" sz="1400" dirty="0"/>
          </a:p>
          <a:p>
            <a:pPr marL="342900" indent="-342900">
              <a:buSzPct val="100000"/>
              <a:buChar char="•"/>
            </a:pPr>
            <a:r>
              <a:rPr lang="en-US" sz="1400" dirty="0">
                <a:solidFill>
                  <a:srgbClr val="2A034C"/>
                </a:solidFill>
                <a:latin typeface="Montserrat" pitchFamily="34" charset="0"/>
                <a:ea typeface="Montserrat" pitchFamily="34" charset="-122"/>
                <a:cs typeface="Montserrat" pitchFamily="34" charset="-120"/>
              </a:rPr>
              <a:t>Use system or bundled fonts only; anything else is flagged at setup.</a:t>
            </a:r>
            <a:endParaRPr lang="en-US" sz="1400" dirty="0"/>
          </a:p>
        </p:txBody>
      </p:sp>
      <p:pic>
        <p:nvPicPr>
          <p:cNvPr id="4" name="Emota logo" descr="Emota, an Inizio Engage company"/>
          <p:cNvPicPr>
            <a:picLocks noChangeAspect="1"/>
          </p:cNvPicPr>
          <p:nvPr/>
        </p:nvPicPr>
        <p:blipFill>
          <a:blip r:embed="rIdEmotaLogo"/>
          <a:stretch>
            <a:fillRect/>
          </a:stretch>
        </p:blipFill>
        <p:spPr>
          <a:xfrm>
            <a:off x="10088575" y="411480"/>
            <a:ext cx="1554480" cy="554431"/>
          </a:xfrm>
          <a:prstGeom prst="rect">
            <a:avLst/>
          </a:prstGeom>
        </p:spPr>
      </p:pic>
    </p:spTree>
  </p:cSld>
  <p:clrMapOvr>
    <a:masterClrMapping/>
  </p:clrMapOvr>
</p:sld>
</file>

<file path=ppt/theme/theme1.xml><?xml version="1.0" encoding="utf-8"?>
<a:theme xmlns:a="http://schemas.openxmlformats.org/drawingml/2006/main" name="Office Theme">
  <a:themeElements>
    <a:clrScheme name="Emota">
      <a:dk1>
        <a:srgbClr val="2A034C"/>
      </a:dk1>
      <a:lt1>
        <a:srgbClr val="FFFFFF"/>
      </a:lt1>
      <a:dk2>
        <a:srgbClr val="180A30"/>
      </a:dk2>
      <a:lt2>
        <a:srgbClr val="F6F4FB"/>
      </a:lt2>
      <a:accent1>
        <a:srgbClr val="00CA9F"/>
      </a:accent1>
      <a:accent2>
        <a:srgbClr val="7949F0"/>
      </a:accent2>
      <a:accent3>
        <a:srgbClr val="451284"/>
      </a:accent3>
      <a:accent4>
        <a:srgbClr val="7EF5BD"/>
      </a:accent4>
      <a:accent5>
        <a:srgbClr val="3A1164"/>
      </a:accent5>
      <a:accent6>
        <a:srgbClr val="414156"/>
      </a:accent6>
      <a:hlink>
        <a:srgbClr val="007A62"/>
      </a:hlink>
      <a:folHlink>
        <a:srgbClr val="7949F0"/>
      </a:folHlink>
    </a:clrScheme>
    <a:fontScheme name="Emota">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519</Words>
  <Application>Microsoft Macintosh PowerPoint</Application>
  <PresentationFormat>Widescreen</PresentationFormat>
  <Paragraphs>57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GGPad Template</dc:title>
  <dc:subject>PptxGenJS Presentation</dc:subject>
  <dc:creator>GGPad</dc:creator>
  <cp:lastModifiedBy>Graham Lehr</cp:lastModifiedBy>
  <cp:revision>4</cp:revision>
  <dcterms:created xsi:type="dcterms:W3CDTF">2026-09-24T08:07:33Z</dcterms:created>
  <dcterms:modified xsi:type="dcterms:W3CDTF">2026-09-24T20:15:49Z</dcterms:modified>
</cp:coreProperties>
</file>